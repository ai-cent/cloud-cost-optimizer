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232F3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232F3E"/>
                </a:solidFill>
                <a:latin typeface="Arial"/>
              </a:rPr>
              <a:t>Waste by Service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Waste ($)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32F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99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1321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A30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9C3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C8EB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EC2</c:v>
                  </c:pt>
                  <c:pt idx="1">
                    <c:v>EBS</c:v>
                  </c:pt>
                  <c:pt idx="2">
                    <c:v>ALB</c:v>
                  </c:pt>
                  <c:pt idx="3">
                    <c:v>EIP</c:v>
                  </c:pt>
                  <c:pt idx="4">
                    <c:v>Snapshot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780</c:v>
                </c:pt>
                <c:pt idx="1">
                  <c:v>420</c:v>
                </c:pt>
                <c:pt idx="2">
                  <c:v>380</c:v>
                </c:pt>
                <c:pt idx="3">
                  <c:v>180</c:v>
                </c:pt>
                <c:pt idx="4">
                  <c:v>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32F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232F3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232F3E"/>
                </a:solidFill>
                <a:latin typeface="Arial"/>
              </a:rPr>
              <a:t>Findings by Severity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By Severity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13212"/>
              </a:solidFill>
              <a:effectLst/>
            </c:spPr>
          </c:dPt>
          <c:dPt>
            <c:idx val="1"/>
            <c:bubble3D val="0"/>
            <c:spPr>
              <a:solidFill>
                <a:srgbClr val="FF9900"/>
              </a:solidFill>
              <a:effectLst/>
            </c:spPr>
          </c:dPt>
          <c:dPt>
            <c:idx val="2"/>
            <c:bubble3D val="0"/>
            <c:spPr>
              <a:solidFill>
                <a:srgbClr val="F0A30A"/>
              </a:solidFill>
              <a:effectLst/>
            </c:spPr>
          </c:dPt>
          <c:dPt>
            <c:idx val="3"/>
            <c:bubble3D val="0"/>
            <c:spPr>
              <a:solidFill>
                <a:srgbClr val="1A9C3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</c:v>
                </c:pt>
                <c:pt idx="1">
                  <c:v>4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 Optimizer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Remediation Engine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371600" y="2606040"/>
            <a:ext cx="6400800" cy="4754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60604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FinOps  |  Agentic AI Architect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48874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548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Cloud Cost Optimizer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Cost of Cloud Waste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waste 30–35% of cloud budget on orphaned resources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Unattached disks, idle VMs, forgotten IPs accumulate silently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identification is slow, error-prone, and costly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view to detect, quantify, and act on waste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0" y="1005840"/>
            <a:ext cx="2377440" cy="3200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0" y="1005840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9900"/>
                </a:solidFill>
              </a:rPr>
              <a:t>30–35%</a:t>
            </a:r>
            <a:endParaRPr lang="en-US" sz="3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of cloud budget</a:t>
            </a:r>
            <a:endParaRPr lang="en-US" sz="3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wasted on orphans</a:t>
            </a:r>
            <a:endParaRPr lang="en-US" sz="3600" dirty="0"/>
          </a:p>
          <a:p>
            <a:pPr algn="ctr" indent="0" marL="0">
              <a:buNone/>
            </a:pPr>
            <a:endParaRPr lang="en-US" sz="36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0A30A"/>
                </a:solidFill>
              </a:rPr>
              <a:t>$20K–$50K</a:t>
            </a:r>
            <a:endParaRPr lang="en-US" sz="3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per year</a:t>
            </a:r>
            <a:endParaRPr lang="en-US" sz="3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preventable waste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0" y="48874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0" y="548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Cloud Cost Optimizer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 Optimizer &amp; Remediation Engine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1554480" cy="777240"/>
          </a:xfrm>
          <a:prstGeom prst="rect">
            <a:avLst/>
          </a:prstGeom>
          <a:solidFill>
            <a:srgbClr val="232F3E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1348740"/>
            <a:ext cx="4572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960120"/>
            <a:ext cx="1554480" cy="777240"/>
          </a:xfrm>
          <a:prstGeom prst="rect">
            <a:avLst/>
          </a:prstGeom>
          <a:solidFill>
            <a:srgbClr val="232F3E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9601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348740"/>
            <a:ext cx="4572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960120"/>
            <a:ext cx="1554480" cy="777240"/>
          </a:xfrm>
          <a:prstGeom prst="rect">
            <a:avLst/>
          </a:prstGeom>
          <a:solidFill>
            <a:srgbClr val="232F3E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9601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Rules)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1348740"/>
            <a:ext cx="4572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960120"/>
            <a:ext cx="1554480" cy="777240"/>
          </a:xfrm>
          <a:prstGeom prst="rect">
            <a:avLst/>
          </a:prstGeom>
          <a:solidFill>
            <a:srgbClr val="232F3E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0" y="9601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Charts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0" y="1348740"/>
            <a:ext cx="2286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9480" y="868680"/>
            <a:ext cx="1737360" cy="685800"/>
          </a:xfrm>
          <a:prstGeom prst="rect">
            <a:avLst/>
          </a:prstGeom>
          <a:solidFill>
            <a:srgbClr val="FF9900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69480" y="8686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Auto-Remediate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AWS 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69480" y="1691640"/>
            <a:ext cx="1737360" cy="685800"/>
          </a:xfrm>
          <a:prstGeom prst="rect">
            <a:avLst/>
          </a:prstGeom>
          <a:solidFill>
            <a:srgbClr val="555555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69480" y="16916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Viewer: Copy CLI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Terminal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69480" y="1348740"/>
            <a:ext cx="0" cy="-36576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9480" y="1348740"/>
            <a:ext cx="0" cy="530352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69480" y="1051560"/>
            <a:ext cx="50292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9480" y="1572768"/>
            <a:ext cx="50292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743200"/>
            <a:ext cx="8595360" cy="475488"/>
          </a:xfrm>
          <a:prstGeom prst="rect">
            <a:avLst/>
          </a:prstGeom>
          <a:solidFill>
            <a:srgbClr val="EDF2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74320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Stack:  FastAPI  +  SQLite + SQLAlchemy  +  JWT Auth  +  AWS API  +  Chart.js 4.4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310128"/>
          <a:ext cx="8595360" cy="16002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3108960"/>
                <a:gridCol w="1828800"/>
              </a:tblGrid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unattached_ebs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EBS Volume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=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idle_ec2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 Instance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activity &gt; 30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orphaned_eip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 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= unassociated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idle_alb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Balancer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= idle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old_snapshot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&gt; 90 days ago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778240" y="48874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132320" y="548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Cloud Cost Optimizer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— Full Control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0"/>
            <a:ext cx="1645920" cy="42291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" y="8686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Cost Optimizer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" y="1371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" y="17190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" y="206654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" y="2450592"/>
            <a:ext cx="1444752" cy="658368"/>
          </a:xfrm>
          <a:prstGeom prst="rect">
            <a:avLst/>
          </a:prstGeom>
          <a:solidFill>
            <a:srgbClr val="1A2A38"/>
          </a:solidFill>
          <a:ln w="12700">
            <a:solidFill>
              <a:srgbClr val="FF990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09728" y="2450592"/>
            <a:ext cx="1444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⬆ Upload CSV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Drag &amp; Drop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4592" y="4549140"/>
            <a:ext cx="502920" cy="201168"/>
          </a:xfrm>
          <a:prstGeom prst="rect">
            <a:avLst/>
          </a:prstGeom>
          <a:solidFill>
            <a:srgbClr val="1A9C3E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" y="45491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13232" y="45491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admin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783080" y="868680"/>
            <a:ext cx="170307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83080" y="868680"/>
            <a:ext cx="170307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Total Waste
</a:t>
            </a:r>
            <a:endParaRPr lang="en-US" sz="8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</a:rPr>
              <a:t>$1,844.50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/ month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577590" y="868680"/>
            <a:ext cx="170307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77590" y="868680"/>
            <a:ext cx="170307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Orphaned
</a:t>
            </a:r>
            <a:endParaRPr lang="en-US" sz="8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</a:rPr>
              <a:t>10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resources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372100" y="868680"/>
            <a:ext cx="170307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72100" y="868680"/>
            <a:ext cx="170307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Pending
</a:t>
            </a:r>
            <a:endParaRPr lang="en-US" sz="8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</a:rPr>
              <a:t>10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remediations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166610" y="868680"/>
            <a:ext cx="170307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66610" y="868680"/>
            <a:ext cx="170307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Top Waster
</a:t>
            </a:r>
            <a:endParaRPr lang="en-US" sz="8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</a:rPr>
              <a:t>EC2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Instance</a:t>
            </a:r>
            <a:endParaRPr lang="en-US" sz="8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1783080" y="1737360"/>
          <a:ext cx="347472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3" name="Chart 1" descr=""/>
          <p:cNvGraphicFramePr/>
          <p:nvPr/>
        </p:nvGraphicFramePr>
        <p:xfrm>
          <a:off x="5440680" y="1737360"/>
          <a:ext cx="228600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83080" y="3246120"/>
          <a:ext cx="7223760" cy="128016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777240"/>
                <a:gridCol w="685800"/>
                <a:gridCol w="914400"/>
                <a:gridCol w="822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Waste/mo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CLI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i-0a1b2c3d4e5f6789a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 Instance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CLI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vol-0a1b2c3d4e5f6789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EBS Volume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CLI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arn:aws:...:legacy-auth-alb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Balancer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CLI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</a:tbl>
          </a:graphicData>
        </a:graphic>
      </p:graphicFrame>
      <p:sp>
        <p:nvSpPr>
          <p:cNvPr id="25" name="Text 20"/>
          <p:cNvSpPr/>
          <p:nvPr/>
        </p:nvSpPr>
        <p:spPr>
          <a:xfrm>
            <a:off x="1783080" y="4850892"/>
            <a:ext cx="7178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Upload CSV · Ingest · Remediate via AWS API · Copy CLI command</a:t>
            </a:r>
            <a:endParaRPr lang="en-US" sz="750" dirty="0"/>
          </a:p>
        </p:txBody>
      </p:sp>
      <p:sp>
        <p:nvSpPr>
          <p:cNvPr id="26" name="Shape 2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778240" y="48874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4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7132320" y="548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Cloud Cost Optimizer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Dashboard — Read Only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0"/>
            <a:ext cx="1645920" cy="42291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" y="8686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Cost Optimizer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" y="1371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" y="1737360"/>
            <a:ext cx="1444752" cy="658368"/>
          </a:xfrm>
          <a:prstGeom prst="rect">
            <a:avLst/>
          </a:prstGeom>
          <a:solidFill>
            <a:srgbClr val="1A2A38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09728" y="1737360"/>
            <a:ext cx="1444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⬆ Upload CSV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Drag &amp; Drop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4592" y="4549140"/>
            <a:ext cx="502920" cy="20116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" y="45491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Viewer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13232" y="45491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viewer1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83080" y="868680"/>
            <a:ext cx="170307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83080" y="868680"/>
            <a:ext cx="170307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Total Waste
</a:t>
            </a:r>
            <a:endParaRPr lang="en-US" sz="8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</a:rPr>
              <a:t>$1,844.50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/ month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577590" y="868680"/>
            <a:ext cx="170307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77590" y="868680"/>
            <a:ext cx="170307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Orphaned
</a:t>
            </a:r>
            <a:endParaRPr lang="en-US" sz="8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</a:rPr>
              <a:t>10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resources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372100" y="868680"/>
            <a:ext cx="170307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72100" y="868680"/>
            <a:ext cx="170307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Pending
</a:t>
            </a:r>
            <a:endParaRPr lang="en-US" sz="8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</a:rPr>
              <a:t>10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remediations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166610" y="868680"/>
            <a:ext cx="170307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66610" y="868680"/>
            <a:ext cx="170307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Top Waster
</a:t>
            </a:r>
            <a:endParaRPr lang="en-US" sz="8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</a:rPr>
              <a:t>EC2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Instance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783080" y="1719072"/>
            <a:ext cx="7223760" cy="292608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83080" y="1719072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ℹ  Viewer Access — Contact Admin to perform remediation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83080" y="2084832"/>
          <a:ext cx="7223760" cy="242316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914400"/>
                <a:gridCol w="777240"/>
                <a:gridCol w="914400"/>
              </a:tblGrid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Waste/mo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i-0a1b2c3d4e5f6789a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 Instance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CLI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vol-0a1b2c3d4e5f6789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EBS Volume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CLI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arn:aws:...:legacy-auth-alb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Balancer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CLI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1783080" y="4850892"/>
            <a:ext cx="7178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Viewer: Upload CSV · Ingest · Copy CLI command — no remediation access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78240" y="48874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5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132320" y="548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Cloud Cost Optimizer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 to Remediation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41248"/>
            <a:ext cx="3108960" cy="3840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4124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F3E"/>
                </a:solidFill>
              </a:rPr>
              <a:t>Admin User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3108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9844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2F3E"/>
                </a:solidFill>
              </a:rPr>
              <a:t>Click Remediate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11096" y="1645920"/>
            <a:ext cx="0" cy="64008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91640"/>
            <a:ext cx="3108960" cy="347472"/>
          </a:xfrm>
          <a:prstGeom prst="rect">
            <a:avLst/>
          </a:prstGeom>
          <a:solidFill>
            <a:srgbClr val="F0F4F8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6916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2F3E"/>
                </a:solidFill>
              </a:rPr>
              <a:t>User Confirmation Popup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11096" y="2039112"/>
            <a:ext cx="0" cy="64008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084832"/>
            <a:ext cx="3108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08483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2F3E"/>
                </a:solidFill>
              </a:rPr>
              <a:t>Call AWS API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11096" y="2432304"/>
            <a:ext cx="0" cy="64008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78024"/>
            <a:ext cx="3108960" cy="347472"/>
          </a:xfrm>
          <a:prstGeom prst="rect">
            <a:avLst/>
          </a:prstGeom>
          <a:solidFill>
            <a:srgbClr val="F0F4F8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47802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2F3E"/>
                </a:solidFill>
              </a:rPr>
              <a:t>Execute Remediation in AWS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11096" y="2825496"/>
            <a:ext cx="0" cy="64008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871216"/>
            <a:ext cx="3108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287121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2F3E"/>
                </a:solidFill>
              </a:rPr>
              <a:t>Resource Decommissioned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11096" y="3218688"/>
            <a:ext cx="0" cy="64008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264408"/>
            <a:ext cx="3108960" cy="347472"/>
          </a:xfrm>
          <a:prstGeom prst="rect">
            <a:avLst/>
          </a:prstGeom>
          <a:solidFill>
            <a:srgbClr val="F0F4F8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32644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2F3E"/>
                </a:solidFill>
              </a:rPr>
              <a:t>Email Alert Sent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11096" y="3611880"/>
            <a:ext cx="0" cy="64008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657600"/>
            <a:ext cx="3108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36576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2F3E"/>
                </a:solidFill>
              </a:rPr>
              <a:t>Row turns green 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08736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9C3E"/>
                </a:solidFill>
              </a:rPr>
              <a:t>One-click — no terminal needed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841248"/>
            <a:ext cx="0" cy="4137660"/>
          </a:xfrm>
          <a:prstGeom prst="line">
            <a:avLst/>
          </a:prstGeom>
          <a:noFill/>
          <a:ln w="19050">
            <a:solidFill>
              <a:srgbClr val="555555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754880" y="841248"/>
            <a:ext cx="3108960" cy="38404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84124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Viewer User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1298448"/>
            <a:ext cx="3108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129844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2F3E"/>
                </a:solidFill>
              </a:rPr>
              <a:t>Click Copy CLI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1645920"/>
            <a:ext cx="0" cy="64008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1691640"/>
            <a:ext cx="3108960" cy="347472"/>
          </a:xfrm>
          <a:prstGeom prst="rect">
            <a:avLst/>
          </a:prstGeom>
          <a:solidFill>
            <a:srgbClr val="F0F4F8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54880" y="16916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2F3E"/>
                </a:solidFill>
              </a:rPr>
              <a:t>Paste in Terminal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2039112"/>
            <a:ext cx="0" cy="64008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2084832"/>
            <a:ext cx="3108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54880" y="208483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2F3E"/>
                </a:solidFill>
              </a:rPr>
              <a:t>Run AWS CLI Command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09360" y="2432304"/>
            <a:ext cx="0" cy="64008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478024"/>
            <a:ext cx="3108960" cy="347472"/>
          </a:xfrm>
          <a:prstGeom prst="rect">
            <a:avLst/>
          </a:prstGeom>
          <a:solidFill>
            <a:srgbClr val="F0F4F8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54880" y="247802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2F3E"/>
                </a:solidFill>
              </a:rPr>
              <a:t>Resource Decommissioned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09360" y="2825496"/>
            <a:ext cx="0" cy="64008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2871216"/>
            <a:ext cx="3108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754880" y="287121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2F3E"/>
                </a:solidFill>
              </a:rPr>
              <a:t>Report back to Admin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54880" y="330098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Full control — viewer approves each action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78240" y="48874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32320" y="548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Cloud Cost Optimizer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Alert on Remediation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868680"/>
            <a:ext cx="7315200" cy="658368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5" name="Text 3"/>
          <p:cNvSpPr/>
          <p:nvPr/>
        </p:nvSpPr>
        <p:spPr>
          <a:xfrm>
            <a:off x="1078992" y="868680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900"/>
                </a:solidFill>
              </a:rPr>
              <a:t>From: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cloudoptimizer@company.com     </a:t>
            </a:r>
            <a:pPr indent="0" marL="0">
              <a:buNone/>
            </a:pPr>
            <a:r>
              <a:rPr lang="en-US" sz="950" b="1" dirty="0">
                <a:solidFill>
                  <a:srgbClr val="FF9900"/>
                </a:solidFill>
              </a:rPr>
              <a:t>To: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admin@company.com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9900"/>
                </a:solidFill>
              </a:rPr>
              <a:t>Subject: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☁ Cloud Cost Optimizer — Resource Remediated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14400" y="1536192"/>
            <a:ext cx="7315200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572768"/>
            <a:ext cx="6858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2F3E"/>
                </a:solidFill>
              </a:rPr>
              <a:t>Hello Admin,
</a:t>
            </a:r>
            <a:pPr indent="0" marL="0">
              <a:buNone/>
            </a:pPr>
            <a:r>
              <a:rPr lang="en-US" sz="1000" dirty="0">
                <a:solidFill>
                  <a:srgbClr val="232F3E"/>
                </a:solidFill>
              </a:rPr>
              <a:t>A resource has been successfully remediated.
</a:t>
            </a:r>
            <a:pPr indent="0" marL="0">
              <a:buNone/>
            </a:pPr>
            <a:r>
              <a:rPr lang="en-US" sz="1000" b="1" dirty="0">
                <a:solidFill>
                  <a:srgbClr val="232F3E"/>
                </a:solidFill>
              </a:rPr>
              <a:t>Resource Details:
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━━━━━━━━━━━━━━━━━━━━━━━━━━━━━━━━━━━━━━
</a:t>
            </a:r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ID:     i-0a1b2c3d4e5f6789
</a:t>
            </a:r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Name:   ec2-analytics-worker-old
</a:t>
            </a:r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Type:   EC2 Instance
</a:t>
            </a:r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Region:          us-east-1
</a:t>
            </a:r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Taken:    Instance Stopped
</a:t>
            </a:r>
            <a:pPr indent="0" marL="0">
              <a:buNone/>
            </a:pPr>
            <a:r>
              <a:rPr lang="en-US" sz="900" b="1" dirty="0">
                <a:solidFill>
                  <a:srgbClr val="1A9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 Savings: $658.00 / month
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━━━━━━━━━━━━━━━━━━━━━━━━━━━━━━━━━━━━━━
</a:t>
            </a:r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Remediated By:   admin (Admin Role)
</a:t>
            </a:r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Remediated At:   2025-07-09 14:32:07 UTC
</a:t>
            </a:r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This is an automated notification from Cloud Cost Optimizer.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4297680"/>
            <a:ext cx="7315200" cy="29260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297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F3E"/>
                </a:solidFill>
              </a:rPr>
              <a:t>Cloud Cost Optimizer  |  AWS FinOps  |  Powered by FastAPI + AWS API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0" y="48874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0" y="548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Cloud Cost Optimizer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Engineering Practices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86968"/>
            <a:ext cx="4023360" cy="40279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86968"/>
            <a:ext cx="4023360" cy="384048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869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900"/>
                </a:solidFill>
              </a:rPr>
              <a:t>Security &amp; Access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16736"/>
            <a:ext cx="3749040" cy="35707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</a:rPr>
              <a:t>JWT auth + bcrypt password hashing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</a:rPr>
              <a:t>Role-based access: Admin vs Viewer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</a:rPr>
              <a:t>Admin: one-click AWS API remediation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</a:rPr>
              <a:t>Viewer: CLI command copy only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</a:rPr>
              <a:t>Email alerts via SMTP notifications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</a:rPr>
              <a:t>CSV drag-drop upload + auto refresh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</a:rPr>
              <a:t>AWS color theme throughout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86968"/>
            <a:ext cx="4023360" cy="40279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86968"/>
            <a:ext cx="4023360" cy="384048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8869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900"/>
                </a:solidFill>
              </a:rPr>
              <a:t>Reliability &amp; Ops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316736"/>
            <a:ext cx="3749040" cy="35707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</a:rPr>
              <a:t>Responsive layout — zero scroll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</a:rPr>
              <a:t>Exception handling across all modules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</a:rPr>
              <a:t>Input validation + sanitization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</a:rPr>
              <a:t>Security: no hardcoded secrets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</a:rPr>
              <a:t>Rate limiting on login (5/min/IP)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</a:rPr>
              <a:t>Structured logging to Database &amp; app.log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</a:rPr>
              <a:t>AWS API ready for live remediation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0" y="48874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32320" y="548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Cloud Cost Optimizer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MVP to Production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AWS SSO replacing local JWT — IAM groups map to Admin / Viewer roles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Real-time Cost Explorer API replacing manual CSV upload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Live AWS API with real credentials in production (DEMO_MODE=false)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AWS Organizations multi-account support — single dashboard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Slack + Teams webhook alerts for Critical findings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86868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Docker + Kubernetes deployment with Terraform module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Scheduled automated daily / weekly scans via EventBridge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Cost forecasting with 30 / 60 / 90-day trend analysis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Multi-cloud: add Azure Cost Management API as second source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234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</a:rPr>
              <a:t>Built in Lead Architect Mode — architecture by human, code by AI, 0 manual edits  |  ~4h 10m  |  30+ prompts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0" y="48874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0" y="548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Cloud Cost Optimizer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Cost Optimizer &amp; Remediation Engine</dc:title>
  <dc:subject>PptxGenJS Presentation</dc:subject>
  <dc:creator>Lead Architect Mode</dc:creator>
  <cp:lastModifiedBy>Lead Architect Mode</cp:lastModifiedBy>
  <cp:revision>1</cp:revision>
  <dcterms:created xsi:type="dcterms:W3CDTF">2026-07-10T06:46:16Z</dcterms:created>
  <dcterms:modified xsi:type="dcterms:W3CDTF">2026-07-10T06:46:16Z</dcterms:modified>
</cp:coreProperties>
</file>